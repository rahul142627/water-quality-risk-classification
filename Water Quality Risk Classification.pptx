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</ns0:sldIdLst>
  <ns0:sldSz cx="12192000" cy="6858000" type="screen4x3"/>
  <ns0:notesSz cx="6858000" cy="9144000"/>
  <ns0:embeddedFontLst>
    <ns0:embeddedFont>
      <ns0:font typeface="Plus Jakarta Sans"/>
      <ns0:bold ns1:id="rIdFont15"/>
      <ns0:regular ns1:id="rIdFont16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Font15" Type="http://schemas.openxmlformats.org/officeDocument/2006/relationships/font" Target="fonts/94938c04-8007-494f-9ce4-69d86f357c3b.fntdata" /><ns0:Relationship Id="rIdFont16" Type="http://schemas.openxmlformats.org/officeDocument/2006/relationships/font" Target="fonts/e591f4dc-797c-4882-a833-4bee7f4c80a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646265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173634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TRACK 1 CAPSTONE PROJECT • PROBLEM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97484"/>
            <a:ext cx="8601075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8FAFC"/>
                </a:solidFill>
                <a:latin typeface="Plus Jakarta Sans"/>
              </a:rPr>
              <a:t>Adaptive Water Quality Risk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827115"/>
            <a:ext cx="6286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An end-to-end zero-cost machine learning solution for environmental monitoring and real-time hazard screening.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76537"/>
            <a:ext cx="3505200" cy="2295525"/>
          </a:xfrm>
          <a:prstGeom prst="roundRect">
            <a:avLst>
              <a:gd name="adj" fmla="val 66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776537"/>
            <a:ext cx="3505200" cy="2295525"/>
          </a:xfrm>
          <a:prstGeom prst="roundRect">
            <a:avLst>
              <a:gd name="adj" fmla="val 66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776537"/>
            <a:ext cx="3505200" cy="2295525"/>
          </a:xfrm>
          <a:prstGeom prst="roundRect">
            <a:avLst>
              <a:gd name="adj" fmla="val 66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090862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090862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090862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275" y="3224212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075" y="3224212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0587" y="3224212"/>
            <a:ext cx="21907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6096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PROJECT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8382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Core Mission &amp;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738562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071937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Classify water sample records into safe or hazardous risk categories instantly.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738562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Model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4071937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Foundational Decision Tree classifier optimized for interpretability and zero cost.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738562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4071937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Interactive Streamlit web application with real-time input validation.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10275" y="2466975"/>
            <a:ext cx="5572125" cy="2838450"/>
          </a:xfrm>
          <a:prstGeom prst="roundRect">
            <a:avLst>
              <a:gd name="adj" fmla="val 53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3152775"/>
            <a:ext cx="4943475" cy="742950"/>
          </a:xfrm>
          <a:prstGeom prst="roundRect">
            <a:avLst>
              <a:gd name="adj" fmla="val 128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24600" y="3152775"/>
            <a:ext cx="38100" cy="7429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24600" y="4048125"/>
            <a:ext cx="4943475" cy="942975"/>
          </a:xfrm>
          <a:prstGeom prst="roundRect">
            <a:avLst>
              <a:gd name="adj" fmla="val 1010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24600" y="4048125"/>
            <a:ext cx="38100" cy="9429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745110"/>
            <a:ext cx="1524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059435"/>
            <a:ext cx="1524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373760"/>
            <a:ext cx="15240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788098"/>
            <a:ext cx="15240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6096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FEATURE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8382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Physicochemical Input Telemetry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707927"/>
            <a:ext cx="503872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Plus Jakarta Sans"/>
              </a:rPr>
              <a:t>The system ingests core water indicators measured during field sampling. Each parameter plays a decisive role in evaluating aquatic safety thresholds.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600" y="2781300"/>
            <a:ext cx="5867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Target Output Categories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3721298"/>
            <a:ext cx="5912643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pH Level:</a:t>
            </a:r>
            <a:r>
              <a:rPr b="0" sz="1200" i="0" u="none">
                <a:solidFill>
                  <a:srgbClr val="1E293B"/>
                </a:solidFill>
                <a:latin typeface="Plus Jakarta Sans"/>
              </a:rPr>
              <a:t> Acidity and alkalinity balance (ideal: 6.5 - 8.5)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4035623"/>
            <a:ext cx="5912643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Turbidity:</a:t>
            </a:r>
            <a:r>
              <a:rPr b="0" sz="1200" i="0" u="none">
                <a:solidFill>
                  <a:srgbClr val="1E293B"/>
                </a:solidFill>
                <a:latin typeface="Plus Jakarta Sans"/>
              </a:rPr>
              <a:t> Water clarity and suspended solid particles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4349948"/>
            <a:ext cx="5912643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Dissolved Oxygen:</a:t>
            </a:r>
            <a:r>
              <a:rPr b="0" sz="1200" i="0" u="none">
                <a:solidFill>
                  <a:srgbClr val="1E293B"/>
                </a:solidFill>
                <a:latin typeface="Plus Jakarta Sans"/>
              </a:rPr>
              <a:t> Essential metric for aquatic respiration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4664273"/>
            <a:ext cx="477202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Plus Jakarta Sans"/>
              </a:rPr>
              <a:t>Conductivity &amp; Temperature:</a:t>
            </a:r>
            <a:r>
              <a:rPr b="0" sz="1200" i="0" u="none">
                <a:solidFill>
                  <a:srgbClr val="1E293B"/>
                </a:solidFill>
                <a:latin typeface="Plus Jakarta Sans"/>
              </a:rPr>
              <a:t> Ion concentration and thermal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0" y="3305175"/>
            <a:ext cx="47339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65F46"/>
                </a:solidFill>
                <a:latin typeface="Plus Jakarta Sans"/>
              </a:rPr>
              <a:t>Class 0: Safe / Low Risk</a:t>
            </a:r>
            <a:r>
              <a:rPr b="1" sz="1200" i="0" u="none">
                <a:solidFill>
                  <a:srgbClr val="065F46"/>
                </a:solidFill>
                <a:latin typeface="Plus Jakarta Sans"/>
              </a:rPr>
              <a:t> 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Meets all standard safety thresholds for public consumption or release.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0" y="4200525"/>
            <a:ext cx="4733925" cy="638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91B1B"/>
                </a:solidFill>
                <a:latin typeface="Plus Jakarta Sans"/>
              </a:rPr>
              <a:t>Class 1: High Risk / Polluted</a:t>
            </a:r>
            <a:r>
              <a:rPr b="1" sz="1200" i="0" u="none">
                <a:solidFill>
                  <a:srgbClr val="991B1B"/>
                </a:solidFill>
                <a:latin typeface="Plus Jakarta Sans"/>
              </a:rPr>
              <a:t> </a:t>
            </a:r>
            <a:r>
              <a:rPr b="1" sz="1050" i="0" u="none">
                <a:solidFill>
                  <a:srgbClr val="475569"/>
                </a:solidFill>
                <a:latin typeface="Plus Jakarta Sans"/>
              </a:rPr>
              <a:t>Exhibits anomalous chemical characteristics requiring immediate intervention.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90862"/>
            <a:ext cx="2600325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090862"/>
            <a:ext cx="2600325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090862"/>
            <a:ext cx="2600325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090862"/>
            <a:ext cx="2600325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8382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Robust Data Pipeline &amp; Preprocessing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215" y="3328987"/>
            <a:ext cx="265509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284C7"/>
                </a:solidFill>
                <a:latin typeface="Plus Jakarta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5838" y="3729037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Data 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215" y="4005262"/>
            <a:ext cx="2655093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Plus Jakarta Sans"/>
              </a:rPr>
              <a:t>Loading telemetry records and injecting controlled missing data points for testing.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3040" y="3328987"/>
            <a:ext cx="265509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284C7"/>
                </a:solidFill>
                <a:latin typeface="Plus Jakarta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6663" y="3729037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Imputation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3040" y="4005262"/>
            <a:ext cx="2655093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Plus Jakarta Sans"/>
              </a:rPr>
              <a:t>Using median-based SimpleImputer to handle missing feature values cleanly.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3865" y="3328987"/>
            <a:ext cx="265509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284C7"/>
                </a:solidFill>
                <a:latin typeface="Plus Jakarta San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7488" y="3729037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Scaling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865" y="4005262"/>
            <a:ext cx="2655093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Plus Jakarta Sans"/>
              </a:rPr>
              <a:t>Standardizing features to zero mean and unit variance via StandardScaler.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4690" y="3328987"/>
            <a:ext cx="265509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284C7"/>
                </a:solidFill>
                <a:latin typeface="Plus Jakarta San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8313" y="3729037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Classification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4690" y="4005262"/>
            <a:ext cx="2655093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Plus Jakarta Sans"/>
              </a:rPr>
              <a:t>Training Decision Tree model with optimized max_depth constraints.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47800"/>
            <a:ext cx="10972800" cy="4800600"/>
          </a:xfrm>
          <a:prstGeom prst="roundRect">
            <a:avLst>
              <a:gd name="adj" fmla="val 396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454723" y="3276600"/>
            <a:ext cx="9525" cy="1143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60753" y="3276600"/>
            <a:ext cx="9525" cy="1143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382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Evaluation &amp; Metric 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3858" y="3348037"/>
            <a:ext cx="285750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1" sz="5400" i="0" u="none">
                <a:solidFill>
                  <a:srgbClr val="0F172A"/>
                </a:solidFill>
                <a:latin typeface="Plus Jakarta Sans"/>
              </a:rPr>
              <a:t>94.5%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3858" y="4148137"/>
            <a:ext cx="2857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Test Accuracy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63579" y="3348037"/>
            <a:ext cx="1797843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1" sz="5400" i="0" u="none">
                <a:solidFill>
                  <a:srgbClr val="0F172A"/>
                </a:solidFill>
                <a:latin typeface="Plus Jakarta Sans"/>
              </a:rPr>
              <a:t>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63579" y="4148137"/>
            <a:ext cx="1797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False Negative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0306" y="3348037"/>
            <a:ext cx="3190875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1" sz="5400" i="0" u="none">
                <a:solidFill>
                  <a:srgbClr val="0284C7"/>
                </a:solidFill>
                <a:latin typeface="Plus Jakarta Sans"/>
              </a:rPr>
              <a:t>0-Cost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0306" y="4148137"/>
            <a:ext cx="3190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Open-Source Stack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19800" y="2918519"/>
            <a:ext cx="5562600" cy="1935360"/>
          </a:xfrm>
          <a:prstGeom prst="roundRect">
            <a:avLst>
              <a:gd name="adj" fmla="val 787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168973"/>
            <a:ext cx="4953000" cy="1019175"/>
          </a:xfrm>
          <a:prstGeom prst="roundRect">
            <a:avLst>
              <a:gd name="adj" fmla="val 11214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4168973"/>
            <a:ext cx="38100" cy="10191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24600" y="3223319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15100" y="3223319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05600" y="3223319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096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382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Interactive Streamlit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584251"/>
            <a:ext cx="650081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Real-Time Risk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003351"/>
            <a:ext cx="5048250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Plus Jakarta Sans"/>
              </a:rPr>
              <a:t>The deployed web interface enables users to adjust physicochemical slider controls, instantly validate values, and run serialized preprocessing pipelines to output clear hazard predictions.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4359473"/>
            <a:ext cx="4667250" cy="638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369A1"/>
                </a:solidFill>
                <a:latin typeface="Plus Jakarta Sans"/>
              </a:rPr>
              <a:t>Functional Highlight</a:t>
            </a:r>
            <a:r>
              <a:rPr b="1" sz="1200" i="0" u="none">
                <a:solidFill>
                  <a:srgbClr val="0369A1"/>
                </a:solidFill>
                <a:latin typeface="Plus Jakarta Sans"/>
              </a:rPr>
              <a:t> </a:t>
            </a:r>
            <a:r>
              <a:rPr b="1" sz="1050" i="0" u="none">
                <a:solidFill>
                  <a:srgbClr val="0369A1"/>
                </a:solidFill>
                <a:latin typeface="Plus Jakarta Sans"/>
              </a:rPr>
              <a:t>Streamlines deployment for field operators without requiring complex infrastructure.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600" y="3528119"/>
            <a:ext cx="5867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monospace"/>
              </a:rPr>
              <a:t>$ streamlit run app.py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600" y="3756719"/>
            <a:ext cx="5048250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94A3B8"/>
                </a:solidFill>
                <a:latin typeface="monospace"/>
              </a:rPr>
              <a:t>&gt; Model artifacts loaded successfully.</a:t>
            </a:r>
            <a:r>
              <a:t>
</a:t>
            </a:r>
            <a:r>
              <a:rPr b="0" sz="975" i="0" u="none">
                <a:solidFill>
                  <a:srgbClr val="94A3B8"/>
                </a:solidFill>
                <a:latin typeface="monospace"/>
              </a:rPr>
              <a:t> &gt; Running on http://localhost:8501</a:t>
            </a:r>
            <a:r>
              <a:t>
</a:t>
            </a:r>
            <a:r>
              <a:rPr b="0" sz="975" i="0" u="none">
                <a:solidFill>
                  <a:srgbClr val="94A3B8"/>
                </a:solidFill>
                <a:latin typeface="monospace"/>
              </a:rPr>
              <a:t> &gt; Input vector: [pH: 7.2, Turbidity: 3.1]</a:t>
            </a:r>
            <a:r>
              <a:t>
</a:t>
            </a:r>
            <a:r>
              <a:rPr b="0" sz="975" i="0" u="none">
                <a:solidFill>
                  <a:srgbClr val="94A3B8"/>
                </a:solidFill>
                <a:latin typeface="monospace"/>
              </a:rPr>
              <a:t> &gt; Prediction: Safe / Low Risk (Confidence: 96.2%)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90862"/>
            <a:ext cx="3505200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90862"/>
            <a:ext cx="3505200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90862"/>
            <a:ext cx="3505200" cy="1666875"/>
          </a:xfrm>
          <a:prstGeom prst="roundRect">
            <a:avLst>
              <a:gd name="adj" fmla="val 9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382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Conclusion &amp; Future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405187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Project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757612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Successfully developed a reproducible, zero-cost classification model meeting all capstone criteria.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7725" y="3405187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IoT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7725" y="3757612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Future expansion to connect live microcontroller sensor streams (ESP32) for continuous monitoring.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1525" y="3405187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Granular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1525" y="3757612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Transitioning from binary classification to multi-class risk gradations (Low, Moderate, Critical).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67400" y="403860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608314" y="2781300"/>
            <a:ext cx="2975371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Plus Jakarta San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3514725"/>
            <a:ext cx="3810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94A3B8"/>
                </a:solidFill>
                <a:latin typeface="Plus Jakarta Sans"/>
              </a:rPr>
              <a:t>Questions &amp; Viva Voce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